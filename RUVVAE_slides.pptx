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1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RUVVAE-DEG · 问题与思路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小鼠丘脑 TH Tll1_Thsd7b Glut 神经元 · CSRES (慢性社会挫败应激) vs CON · 4 821 细胞 × 16 428 基因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1058113" cy="12801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5197313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核心困难：donor 与 status 完全共线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CSRS1-3 / CSRS9-1 / CSRS10-3</a:t>
            </a: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→  全部 CSRES</a:t>
            </a:r>
            <a:r>
              <a:rPr sz="12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2 140 细胞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MW22B / MW45A / MW47A / MW51A</a:t>
            </a: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→  全部 CON</a:t>
            </a:r>
            <a:r>
              <a:rPr sz="12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2 681 细胞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送样公司 3 家 · 建库批次 4 个 · 测序深度 3 548 ± 1 202 基因/细胞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400"/>
              </a:spcAft>
            </a:pPr>
            <a:r>
              <a:rPr sz="135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任何「按组求均值相减」都无法区分应激效应与批次效应。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经典 RUV 的困境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  =  Xβ  +  Wα  +  ε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        生物      未知变异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W 只能靠 SVD / PCA 线性估计；负对照基因的信息只在估计时用一次，无法非线性外推。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7728" y="1389888"/>
            <a:ext cx="5197313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RUVVAE 的做法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400"/>
              </a:spcAft>
            </a:pPr>
            <a:r>
              <a:rPr sz="13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把 </a:t>
            </a:r>
            <a:r>
              <a:rPr sz="135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W</a:t>
            </a:r>
            <a:r>
              <a:rPr sz="13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换成 VAE 隐变量，把负对照约束变成一个持续作用的可微损失项。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log y  =  y_bio  +  Δ_lat  +  Δ_cov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800"/>
              </a:spcAft>
            </a:pPr>
            <a:r>
              <a:rPr sz="11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         生物通道    潜在 UV     已知 UV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y_bio</a:t>
            </a: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  z，64 维 — 细胞层面的真实生物态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Δ_lat</a:t>
            </a: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  w，4 维 + 每家公司一条可学习基线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600"/>
              </a:spcAft>
            </a:pPr>
            <a:r>
              <a:rPr sz="125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Δ_cov</a:t>
            </a: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  batch 与测序深度，线性可读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三通道在 log 尺度上可加 → </a:t>
            </a:r>
            <a:r>
              <a:rPr sz="135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y_bio</a:t>
            </a:r>
            <a:r>
              <a:rPr sz="13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直接就是去除 UV 后的干净表达，</a:t>
            </a:r>
            <a:r>
              <a:rPr sz="13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对它做组间比较即得干净 logFC。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1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模型架构 · 三通道可加分解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1058113" cy="12801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5529056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前向计算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  →  encoder_z  →  z  (64)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  →  encoder_w  →  w  (4)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y_bio   = decoder_bio(z) + bias + c_group @ W_group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Δ_lat   = sample_emb[batch] + decoder_w(w)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Δ_cov   = c_batch @ W_batch + c_depth @ W_depth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400"/>
              </a:spcAft>
            </a:pPr>
            <a:r>
              <a:rPr sz="12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y_recon = y_bio + Δ_lat + Δ_cov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3000"/>
              </a:spcAft>
            </a:pPr>
            <a:r>
              <a:rPr sz="125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W_group</a:t>
            </a: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是显式的 2 × 16 428 参数矩阵 —— 组效应线性可读，不藏在黑箱里。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训练配置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AdamW 1e-3 · ReduceLROnPlateau · 150 epochs · batch 256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d_bio 64 · k_unk 4 · 重建损失 MSE（另有 ZINB 模式）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8309" y="1152144"/>
            <a:ext cx="508673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损失函数</a:t>
            </a:r>
            <a:r>
              <a:rPr sz="16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   L = L_recon + KL_z + KL_w + L_NC</a:t>
            </a:r>
            <a:r>
              <a:rPr sz="16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等权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L_recon</a:t>
            </a: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   MSE(y_recon, y)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KL_z</a:t>
            </a: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      z → N(0, I)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KL_w</a:t>
            </a: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      w → N(0, I)，限制 UV 通道容量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000"/>
              </a:spcAft>
            </a:pPr>
            <a:r>
              <a:rPr sz="1200" b="1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L_NC</a:t>
            </a:r>
            <a:r>
              <a:rPr sz="1200" b="0">
                <a:solidFill>
                  <a:srgbClr val="B03A2E"/>
                </a:solidFill>
                <a:latin typeface="Noto Sans Mono CJK SC"/>
                <a:ea typeface="Noto Sans Mono CJK SC"/>
                <a:cs typeface="Noto Sans Mono CJK SC"/>
              </a:rPr>
              <a:t>      MSE(Δ_lat+Δ_cov[nc],  y[nc] − nc_mean)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负对照损失的机制</a:t>
            </a:r>
            <a:r>
              <a:rPr sz="1600" b="0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   全模型的锚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① 假定 500 个负对照基因不受应激影响 → 其全部跨细胞变异都是 UV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② 损失强迫 UV 通道精确吃掉 NC 残差 → UV 幅度被校准，不会过度或不足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③ UV 通道全基因共享 → NC 上学到的模式外推到全部 16 428 个基因</a:t>
            </a:r>
          </a:p>
        </p:txBody>
      </p:sp>
      <p:pic>
        <p:nvPicPr>
          <p:cNvPr id="6" name="Picture 5" descr="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758" y="4846320"/>
            <a:ext cx="187194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42597" y="5010912"/>
            <a:ext cx="278244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KL_w:  0.51 → </a:t>
            </a:r>
            <a:r>
              <a:rPr sz="125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0.0084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UV 潜变量被约束得几乎坍缩到先验 —— UV 主要由 sample_emb 与 W_cov 这些显式通道承担，而非黑箱潜变量。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1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诊断 · UV 通道吸收了多少变异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1058113" cy="12801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56" y="1197864"/>
            <a:ext cx="6310768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279392"/>
            <a:ext cx="61925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左</a:t>
            </a:r>
            <a:r>
              <a:rPr sz="11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 生物潜空间 z 按 status 上色 —— 两组大幅重叠、重心略有偏移，说明 z 编码的是细胞状态连续谱，而非硬分组。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右</a:t>
            </a:r>
            <a:r>
              <a:rPr sz="11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   UV 潜空间 w 按送样公司上色 —— beirui 与 yunzhun 沿 PC1 明显分开；</a:t>
            </a:r>
            <a:r>
              <a:rPr sz="115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但 seekgene 点数少且与 beirui 大量重叠，分离是部分的。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1796" y="1152144"/>
            <a:ext cx="4423245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负对照基因找平</a:t>
            </a:r>
            <a:r>
              <a:rPr sz="15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 最强证据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跨 donor 标准差   0.0501 → 0.0122   </a:t>
            </a:r>
            <a:r>
              <a:rPr sz="120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0.244×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y_bio[nc] 偏差均值  −0.0002</a:t>
            </a:r>
            <a:r>
              <a:rPr sz="1200" b="0">
                <a:solidFill>
                  <a:srgbClr val="737373"/>
                </a:solidFill>
                <a:latin typeface="Noto Sans Mono CJK SC"/>
                <a:ea typeface="Noto Sans Mono CJK SC"/>
                <a:cs typeface="Noto Sans Mono CJK SC"/>
              </a:rPr>
              <a:t>  |max| 0.0158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4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重建 MAE          0.0172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重建质量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r²(y_recon)  0.706</a:t>
            </a:r>
            <a:r>
              <a:rPr sz="1200" b="0">
                <a:solidFill>
                  <a:srgbClr val="737373"/>
                </a:solidFill>
                <a:latin typeface="Noto Sans Mono CJK SC"/>
                <a:ea typeface="Noto Sans Mono CJK SC"/>
                <a:cs typeface="Noto Sans Mono CJK SC"/>
              </a:rPr>
              <a:t>     含 UV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r²(y_bio)    0.307</a:t>
            </a:r>
            <a:r>
              <a:rPr sz="1200" b="0">
                <a:solidFill>
                  <a:srgbClr val="737373"/>
                </a:solidFill>
                <a:latin typeface="Noto Sans Mono CJK SC"/>
                <a:ea typeface="Noto Sans Mono CJK SC"/>
                <a:cs typeface="Noto Sans Mono CJK SC"/>
              </a:rPr>
              <a:t>     去 UV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400"/>
              </a:spcAft>
            </a:pPr>
            <a:r>
              <a:rPr sz="11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落差本身就是 UV 的体量 —— 约 40% 的观测方差是技术性的。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方差分配</a:t>
            </a:r>
            <a:r>
              <a:rPr sz="15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 全基因平均 |logFC|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已知协变量 UV   0.0828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测序深度 UV     0.0822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潜在生物效应    0.0573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Noto Sans Mono CJK SC"/>
                <a:ea typeface="Noto Sans Mono CJK SC"/>
                <a:cs typeface="Noto Sans Mono CJK SC"/>
              </a:rPr>
              <a:t>显式组效应      0.0255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UV 的量级是生物信号的 2–3 倍。不校正，DEG 基本是在测「哪家公司测的序」。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1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核心证据 · Top 20 上调 / Top 20 下调 DEG，按 donor 分组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1058113" cy="12801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校正前</a:t>
            </a:r>
            <a:r>
              <a:rPr sz="13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 raw log1p</a:t>
            </a:r>
          </a:p>
        </p:txBody>
      </p:sp>
      <p:pic>
        <p:nvPicPr>
          <p:cNvPr id="5" name="Picture 4" descr="deg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54" y="1426464"/>
            <a:ext cx="9624059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419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校正后</a:t>
            </a:r>
            <a:r>
              <a:rPr sz="13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 y_bio，UV 已移除</a:t>
            </a:r>
          </a:p>
        </p:txBody>
      </p:sp>
      <p:pic>
        <p:nvPicPr>
          <p:cNvPr id="7" name="Picture 6" descr="deg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54" y="3694176"/>
            <a:ext cx="9624059" cy="1874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870448"/>
            <a:ext cx="11058113" cy="12801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016752"/>
            <a:ext cx="68560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校正前 7 个 donor 的模式几乎一致，主导变异是 donor 的整体表达水平；校正后同样这 40 个基因清晰劈成 </a:t>
            </a:r>
            <a:r>
              <a:rPr sz="120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CSRS(3, CSRES) vs MW(4, CON) 两块</a:t>
            </a:r>
            <a:r>
              <a:rPr sz="120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5282" y="6016752"/>
            <a:ext cx="375975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Welch t-test on logFC_bio · 16 428 基因 · p&lt;0.05: 10 390 · FDR&lt;0.05: 10 121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1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管家基因验证 · 局限 · 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1058113" cy="12801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管家基因 校正前</a:t>
            </a:r>
          </a:p>
        </p:txBody>
      </p:sp>
      <p:pic>
        <p:nvPicPr>
          <p:cNvPr id="5" name="Picture 4" descr="hkg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98110"/>
            <a:ext cx="6192543" cy="1217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6700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管家基因 校正后</a:t>
            </a:r>
          </a:p>
        </p:txBody>
      </p:sp>
      <p:pic>
        <p:nvPicPr>
          <p:cNvPr id="7" name="Picture 6" descr="hkg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16014"/>
            <a:ext cx="6192543" cy="1217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206240"/>
            <a:ext cx="619254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37 个文献管家基因中</a:t>
            </a:r>
            <a:r>
              <a:rPr sz="110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仅 4 个</a:t>
            </a:r>
            <a:r>
              <a:rPr sz="110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属于负对照集 → 这是真正的 held-out 验证，不是自证。校正前 MW22B 整体偏低的 donor 梯度，校正后基本消失。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1796" y="1152144"/>
            <a:ext cx="4423245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需要注意的局限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FDR&lt;0.05 有 10 121 / 16 428（62%）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检验以单细胞为独立样本，存在伪重复；真实独立单位是 7 个 donor，p 值被极度膨胀。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负对照按 |logFC| 最小挑选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循环论证风险；选出 Olfr1033、Neurod6 等生物学上不该当 NC 的基因。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Gm42418 排名第一（logFC 2.43）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已知的 rRNA / ambient RNA 污染代理，不应作为生物学结论。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上下调严重不对称：2 640 上 vs 636 下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提示可能仍有未被吸收的全局偏移或 ambient 残留。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r2_per_gene_mean = −2.5e7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被近零方差基因带崩，应以 median 0.081 为准。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03A2E"/>
                </a:solidFill>
                <a:latin typeface="Noto Sans CJK SC"/>
                <a:ea typeface="Noto Sans CJK SC"/>
                <a:cs typeface="Noto Sans CJK SC"/>
              </a:rPr>
              <a:t>改 donor-level pseudobulk 检验</a:t>
            </a:r>
            <a:r>
              <a:rPr sz="1150" b="0">
                <a:solidFill>
                  <a:srgbClr val="737373"/>
                </a:solidFill>
                <a:latin typeface="Noto Sans CJK SC"/>
                <a:ea typeface="Noto Sans CJK SC"/>
                <a:cs typeface="Noto Sans CJK SC"/>
              </a:rPr>
              <a:t>  ← 最高优先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负对照改用文献 HKG 池（hkg_only / hybrid）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过滤 ambient 基因后重跑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与 MAST / DESeq2-pseudobulk / RUV-III-PRPS 对比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Noto Sans CJK SC"/>
                <a:ea typeface="Noto Sans CJK SC"/>
                <a:cs typeface="Noto Sans CJK SC"/>
              </a:rPr>
              <a:t>切换 ZINB 模式直接建模 raw counts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